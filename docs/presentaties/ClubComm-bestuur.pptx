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Doel: toestemming voor een pilot van 8 weken met het O12 talententeam.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Herkenbare problemen; laat het bestuur eigen voorbeelden noemen.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 pilot draait in één team, zodat we snel leren en weinig risico lopen.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 club is verantwoordelijk voor de gegevens; ClubComm verwerkt ze in opdracht. Voor de pilot vragen we een contactpersoon voor privacyvragen.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jpg"/><Relationship Id="rId2" Type="http://schemas.openxmlformats.org/officeDocument/2006/relationships/image" Target="../media/image-4-2.jpg"/><Relationship Id="rId3" Type="http://schemas.openxmlformats.org/officeDocument/2006/relationships/image" Target="../media/image-4-3.jp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254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Clubcomm/public/assets/clubcomm-ic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731520"/>
            <a:ext cx="822960" cy="82296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1737360" y="868680"/>
            <a:ext cx="4572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ClubComm</a:t>
            </a:r>
            <a:endParaRPr lang="en-US" sz="2400" dirty="0"/>
          </a:p>
        </p:txBody>
      </p:sp>
      <p:sp>
        <p:nvSpPr>
          <p:cNvPr id="4" name="Text 1"/>
          <p:cNvSpPr txBox="1"/>
          <p:nvPr/>
        </p:nvSpPr>
        <p:spPr>
          <a:xfrm>
            <a:off x="731520" y="2103120"/>
            <a:ext cx="71323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Pilot ClubComm bij RKSV DCG</a:t>
            </a:r>
            <a:endParaRPr lang="en-US" sz="4400" dirty="0"/>
          </a:p>
        </p:txBody>
      </p:sp>
      <p:sp>
        <p:nvSpPr>
          <p:cNvPr id="5" name="Text 2"/>
          <p:cNvSpPr txBox="1"/>
          <p:nvPr/>
        </p:nvSpPr>
        <p:spPr>
          <a:xfrm>
            <a:off x="731520" y="3931920"/>
            <a:ext cx="69494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Afmelden, planning en communicatie rond het jeugdvoetbal op één plek.</a:t>
            </a:r>
            <a:endParaRPr lang="en-US" sz="2000" dirty="0"/>
          </a:p>
        </p:txBody>
      </p:sp>
      <p:sp>
        <p:nvSpPr>
          <p:cNvPr id="6" name="Text 3"/>
          <p:cNvSpPr txBox="1"/>
          <p:nvPr/>
        </p:nvSpPr>
        <p:spPr>
          <a:xfrm>
            <a:off x="731520" y="5760720"/>
            <a:ext cx="6949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FB3D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Voorstel aan het bestuur · oktober 2026</a:t>
            </a:r>
            <a:endParaRPr lang="en-US" sz="1400" dirty="0"/>
          </a:p>
        </p:txBody>
      </p:sp>
      <p:sp>
        <p:nvSpPr>
          <p:cNvPr id="7" name="Shape 4"/>
          <p:cNvSpPr/>
          <p:nvPr/>
        </p:nvSpPr>
        <p:spPr>
          <a:xfrm>
            <a:off x="8503920" y="411480"/>
            <a:ext cx="3127248" cy="6035040"/>
          </a:xfrm>
          <a:prstGeom prst="roundRect">
            <a:avLst>
              <a:gd name="adj" fmla="val 10234"/>
            </a:avLst>
          </a:prstGeom>
          <a:solidFill>
            <a:srgbClr val="2A4A7A"/>
          </a:solidFill>
          <a:ln/>
          <a:effectLst>
            <a:outerShdw sx="100000" sy="100000" kx="0" ky="0" algn="bl" rotWithShape="0" blurRad="152400" dist="38100" dir="5400000">
              <a:srgbClr val="000000">
                <a:alpha val="18000"/>
              </a:srgbClr>
            </a:outerShdw>
          </a:effectLst>
        </p:spPr>
      </p:sp>
      <p:pic>
        <p:nvPicPr>
          <p:cNvPr id="8" name="Image 1" descr="/home/user/Clubcomm/docs/presentaties/beelden/ou-home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13648" y="521208"/>
            <a:ext cx="2907792" cy="5815584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502920"/>
            <a:ext cx="10881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0D88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WAAROM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22960"/>
            <a:ext cx="10881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34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Wat we elke week zien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691640"/>
            <a:ext cx="10881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Herkenbaar voor bijna elke amateurclub.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2560320"/>
            <a:ext cx="5317236" cy="1554480"/>
          </a:xfrm>
          <a:prstGeom prst="roundRect">
            <a:avLst>
              <a:gd name="adj" fmla="val 7059"/>
            </a:avLst>
          </a:prstGeom>
          <a:solidFill>
            <a:srgbClr val="F5F7FA"/>
          </a:solidFill>
          <a:ln/>
        </p:spPr>
      </p:sp>
      <p:sp>
        <p:nvSpPr>
          <p:cNvPr id="6" name="Shape 4"/>
          <p:cNvSpPr/>
          <p:nvPr/>
        </p:nvSpPr>
        <p:spPr>
          <a:xfrm>
            <a:off x="868680" y="2788920"/>
            <a:ext cx="566928" cy="566928"/>
          </a:xfrm>
          <a:prstGeom prst="ellipse">
            <a:avLst/>
          </a:prstGeom>
          <a:solidFill>
            <a:srgbClr val="D97706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14984" y="2935224"/>
            <a:ext cx="274320" cy="27432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1600200" y="2743200"/>
            <a:ext cx="4174236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Niet afgemeld</a:t>
            </a:r>
            <a:endParaRPr lang="en-US" sz="1700" dirty="0"/>
          </a:p>
          <a:p>
            <a:pPr indent="0" marL="0">
              <a:buNone/>
            </a:pPr>
            <a:r>
              <a:rPr lang="en-US" sz="15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Kinderen komen niet, zonder bericht. De trainer weet pas op het veld wie er is.</a:t>
            </a:r>
            <a:endParaRPr lang="en-US" sz="1700" dirty="0"/>
          </a:p>
        </p:txBody>
      </p:sp>
      <p:sp>
        <p:nvSpPr>
          <p:cNvPr id="9" name="Shape 6"/>
          <p:cNvSpPr/>
          <p:nvPr/>
        </p:nvSpPr>
        <p:spPr>
          <a:xfrm>
            <a:off x="6231636" y="2560320"/>
            <a:ext cx="5317236" cy="1554480"/>
          </a:xfrm>
          <a:prstGeom prst="roundRect">
            <a:avLst>
              <a:gd name="adj" fmla="val 7059"/>
            </a:avLst>
          </a:prstGeom>
          <a:solidFill>
            <a:srgbClr val="F5F7FA"/>
          </a:solidFill>
          <a:ln/>
        </p:spPr>
      </p:sp>
      <p:sp>
        <p:nvSpPr>
          <p:cNvPr id="10" name="Shape 7"/>
          <p:cNvSpPr/>
          <p:nvPr/>
        </p:nvSpPr>
        <p:spPr>
          <a:xfrm>
            <a:off x="6460236" y="2788920"/>
            <a:ext cx="566928" cy="566928"/>
          </a:xfrm>
          <a:prstGeom prst="ellipse">
            <a:avLst/>
          </a:prstGeom>
          <a:solidFill>
            <a:srgbClr val="D97706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06540" y="2935224"/>
            <a:ext cx="274320" cy="274320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7191756" y="2743200"/>
            <a:ext cx="4174236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Alles via WhatsApp</a:t>
            </a:r>
            <a:endParaRPr lang="en-US" sz="1700" dirty="0"/>
          </a:p>
          <a:p>
            <a:pPr indent="0" marL="0">
              <a:buNone/>
            </a:pPr>
            <a:r>
              <a:rPr lang="en-US" sz="15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Afmeldingen, vervoer en taken in drukke groepen. Informatie raakt zoek.</a:t>
            </a:r>
            <a:endParaRPr lang="en-US" sz="1700" dirty="0"/>
          </a:p>
        </p:txBody>
      </p:sp>
      <p:sp>
        <p:nvSpPr>
          <p:cNvPr id="13" name="Shape 9"/>
          <p:cNvSpPr/>
          <p:nvPr/>
        </p:nvSpPr>
        <p:spPr>
          <a:xfrm>
            <a:off x="640080" y="4389120"/>
            <a:ext cx="5317236" cy="1554480"/>
          </a:xfrm>
          <a:prstGeom prst="roundRect">
            <a:avLst>
              <a:gd name="adj" fmla="val 7059"/>
            </a:avLst>
          </a:prstGeom>
          <a:solidFill>
            <a:srgbClr val="F5F7FA"/>
          </a:solidFill>
          <a:ln/>
        </p:spPr>
      </p:sp>
      <p:sp>
        <p:nvSpPr>
          <p:cNvPr id="14" name="Shape 10"/>
          <p:cNvSpPr/>
          <p:nvPr/>
        </p:nvSpPr>
        <p:spPr>
          <a:xfrm>
            <a:off x="868680" y="4617720"/>
            <a:ext cx="566928" cy="566928"/>
          </a:xfrm>
          <a:prstGeom prst="ellipse">
            <a:avLst/>
          </a:prstGeom>
          <a:solidFill>
            <a:srgbClr val="D97706"/>
          </a:solidFill>
          <a:ln/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4984" y="4764024"/>
            <a:ext cx="274320" cy="274320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1600200" y="4572000"/>
            <a:ext cx="4174236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Steeds dezelfde ouders</a:t>
            </a:r>
            <a:endParaRPr lang="en-US" sz="1700" dirty="0"/>
          </a:p>
          <a:p>
            <a:pPr indent="0" marL="0">
              <a:buNone/>
            </a:pPr>
            <a:r>
              <a:rPr lang="en-US" sz="15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Een paar gezinnen doen het meeste werk; anderen worden nooit gevraagd.</a:t>
            </a:r>
            <a:endParaRPr lang="en-US" sz="1700" dirty="0"/>
          </a:p>
        </p:txBody>
      </p:sp>
      <p:sp>
        <p:nvSpPr>
          <p:cNvPr id="17" name="Shape 12"/>
          <p:cNvSpPr/>
          <p:nvPr/>
        </p:nvSpPr>
        <p:spPr>
          <a:xfrm>
            <a:off x="6231636" y="4389120"/>
            <a:ext cx="5317236" cy="1554480"/>
          </a:xfrm>
          <a:prstGeom prst="roundRect">
            <a:avLst>
              <a:gd name="adj" fmla="val 7059"/>
            </a:avLst>
          </a:prstGeom>
          <a:solidFill>
            <a:srgbClr val="F5F7FA"/>
          </a:solidFill>
          <a:ln/>
        </p:spPr>
      </p:sp>
      <p:sp>
        <p:nvSpPr>
          <p:cNvPr id="18" name="Shape 13"/>
          <p:cNvSpPr/>
          <p:nvPr/>
        </p:nvSpPr>
        <p:spPr>
          <a:xfrm>
            <a:off x="6460236" y="4617720"/>
            <a:ext cx="566928" cy="566928"/>
          </a:xfrm>
          <a:prstGeom prst="ellipse">
            <a:avLst/>
          </a:prstGeom>
          <a:solidFill>
            <a:srgbClr val="D97706"/>
          </a:solidFill>
          <a:ln/>
        </p:spPr>
      </p:sp>
      <p:pic>
        <p:nvPicPr>
          <p:cNvPr id="19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06540" y="4764024"/>
            <a:ext cx="274320" cy="274320"/>
          </a:xfrm>
          <a:prstGeom prst="rect">
            <a:avLst/>
          </a:prstGeom>
        </p:spPr>
      </p:pic>
      <p:sp>
        <p:nvSpPr>
          <p:cNvPr id="20" name="Text 14"/>
          <p:cNvSpPr txBox="1"/>
          <p:nvPr/>
        </p:nvSpPr>
        <p:spPr>
          <a:xfrm>
            <a:off x="7191756" y="4572000"/>
            <a:ext cx="4174236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Opvolging zit in hoofden</a:t>
            </a:r>
            <a:endParaRPr lang="en-US" sz="1700" dirty="0"/>
          </a:p>
          <a:p>
            <a:pPr indent="0" marL="0">
              <a:buNone/>
            </a:pPr>
            <a:r>
              <a:rPr lang="en-US" sz="15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Wie belt als een kind vaak ontbreekt? Afspraken worden nergens vastgelegd.</a:t>
            </a:r>
            <a:endParaRPr lang="en-US" sz="1700" dirty="0"/>
          </a:p>
        </p:txBody>
      </p:sp>
      <p:sp>
        <p:nvSpPr>
          <p:cNvPr id="21" name="Text 15"/>
          <p:cNvSpPr txBox="1"/>
          <p:nvPr/>
        </p:nvSpPr>
        <p:spPr>
          <a:xfrm>
            <a:off x="640080" y="644652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ClubComm · voorstel aan het bestuur van RKSV DCG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502920"/>
            <a:ext cx="10881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0D88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WAT IS CLUBCOMM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22960"/>
            <a:ext cx="10881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34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Eén app voor ouders, trainers en teamleiders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691640"/>
            <a:ext cx="10881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 de telefoon, zonder wachtwoord. ClubComm signaleert en communiceert; mensen beslissen.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2560320"/>
            <a:ext cx="3453384" cy="1554480"/>
          </a:xfrm>
          <a:prstGeom prst="roundRect">
            <a:avLst>
              <a:gd name="adj" fmla="val 7059"/>
            </a:avLst>
          </a:prstGeom>
          <a:solidFill>
            <a:srgbClr val="F5F7FA"/>
          </a:solidFill>
          <a:ln/>
        </p:spPr>
      </p:sp>
      <p:sp>
        <p:nvSpPr>
          <p:cNvPr id="6" name="Shape 4"/>
          <p:cNvSpPr/>
          <p:nvPr/>
        </p:nvSpPr>
        <p:spPr>
          <a:xfrm>
            <a:off x="868680" y="2788920"/>
            <a:ext cx="566928" cy="566928"/>
          </a:xfrm>
          <a:prstGeom prst="ellipse">
            <a:avLst/>
          </a:prstGeom>
          <a:solidFill>
            <a:srgbClr val="0D88F9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14984" y="2935224"/>
            <a:ext cx="274320" cy="27432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1600200" y="2743200"/>
            <a:ext cx="2310384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Signaleren</a:t>
            </a:r>
            <a:endParaRPr lang="en-US" sz="1700" dirty="0"/>
          </a:p>
          <a:p>
            <a:pPr indent="0" marL="0">
              <a:buNone/>
            </a:pPr>
            <a:r>
              <a:rPr lang="en-US" sz="15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Wie is vaak afwezig, wie meldt te laat af, welke taken blijven open.</a:t>
            </a:r>
            <a:endParaRPr lang="en-US" sz="1700" dirty="0"/>
          </a:p>
        </p:txBody>
      </p:sp>
      <p:sp>
        <p:nvSpPr>
          <p:cNvPr id="9" name="Shape 6"/>
          <p:cNvSpPr/>
          <p:nvPr/>
        </p:nvSpPr>
        <p:spPr>
          <a:xfrm>
            <a:off x="4367784" y="2560320"/>
            <a:ext cx="3453384" cy="1554480"/>
          </a:xfrm>
          <a:prstGeom prst="roundRect">
            <a:avLst>
              <a:gd name="adj" fmla="val 7059"/>
            </a:avLst>
          </a:prstGeom>
          <a:solidFill>
            <a:srgbClr val="F5F7FA"/>
          </a:solidFill>
          <a:ln/>
        </p:spPr>
      </p:sp>
      <p:sp>
        <p:nvSpPr>
          <p:cNvPr id="10" name="Shape 7"/>
          <p:cNvSpPr/>
          <p:nvPr/>
        </p:nvSpPr>
        <p:spPr>
          <a:xfrm>
            <a:off x="4596384" y="2788920"/>
            <a:ext cx="566928" cy="566928"/>
          </a:xfrm>
          <a:prstGeom prst="ellipse">
            <a:avLst/>
          </a:prstGeom>
          <a:solidFill>
            <a:srgbClr val="0D88F9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42688" y="2935224"/>
            <a:ext cx="274320" cy="274320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5327904" y="2743200"/>
            <a:ext cx="2310384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Communiceren</a:t>
            </a:r>
            <a:endParaRPr lang="en-US" sz="1700" dirty="0"/>
          </a:p>
          <a:p>
            <a:pPr indent="0" marL="0">
              <a:buNone/>
            </a:pPr>
            <a:r>
              <a:rPr lang="en-US" sz="15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Afmelden met één tik, berichten per team, vaste berichten bij vakanties.</a:t>
            </a:r>
            <a:endParaRPr lang="en-US" sz="1700" dirty="0"/>
          </a:p>
        </p:txBody>
      </p:sp>
      <p:sp>
        <p:nvSpPr>
          <p:cNvPr id="13" name="Shape 9"/>
          <p:cNvSpPr/>
          <p:nvPr/>
        </p:nvSpPr>
        <p:spPr>
          <a:xfrm>
            <a:off x="8095488" y="2560320"/>
            <a:ext cx="3453384" cy="1554480"/>
          </a:xfrm>
          <a:prstGeom prst="roundRect">
            <a:avLst>
              <a:gd name="adj" fmla="val 7059"/>
            </a:avLst>
          </a:prstGeom>
          <a:solidFill>
            <a:srgbClr val="F5F7FA"/>
          </a:solidFill>
          <a:ln/>
        </p:spPr>
      </p:sp>
      <p:sp>
        <p:nvSpPr>
          <p:cNvPr id="14" name="Shape 10"/>
          <p:cNvSpPr/>
          <p:nvPr/>
        </p:nvSpPr>
        <p:spPr>
          <a:xfrm>
            <a:off x="8324088" y="2788920"/>
            <a:ext cx="566928" cy="566928"/>
          </a:xfrm>
          <a:prstGeom prst="ellipse">
            <a:avLst/>
          </a:prstGeom>
          <a:solidFill>
            <a:srgbClr val="0D88F9"/>
          </a:solidFill>
          <a:ln/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70392" y="2935224"/>
            <a:ext cx="274320" cy="274320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9055608" y="2743200"/>
            <a:ext cx="2310384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Vastleggen</a:t>
            </a:r>
            <a:endParaRPr lang="en-US" sz="1700" dirty="0"/>
          </a:p>
          <a:p>
            <a:pPr indent="0" marL="0">
              <a:buNone/>
            </a:pPr>
            <a:r>
              <a:rPr lang="en-US" sz="15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Gesprekken en afspraken op één plek, ook als een trainer wisselt.</a:t>
            </a:r>
            <a:endParaRPr lang="en-US" sz="1700" dirty="0"/>
          </a:p>
        </p:txBody>
      </p:sp>
      <p:sp>
        <p:nvSpPr>
          <p:cNvPr id="17" name="Shape 12"/>
          <p:cNvSpPr/>
          <p:nvPr/>
        </p:nvSpPr>
        <p:spPr>
          <a:xfrm>
            <a:off x="640080" y="5623560"/>
            <a:ext cx="10908792" cy="685800"/>
          </a:xfrm>
          <a:prstGeom prst="roundRect">
            <a:avLst>
              <a:gd name="adj" fmla="val 16000"/>
            </a:avLst>
          </a:prstGeom>
          <a:solidFill>
            <a:srgbClr val="EAF4FE"/>
          </a:solidFill>
          <a:ln/>
        </p:spPr>
      </p:sp>
      <p:sp>
        <p:nvSpPr>
          <p:cNvPr id="18" name="Text 13"/>
          <p:cNvSpPr txBox="1"/>
          <p:nvPr/>
        </p:nvSpPr>
        <p:spPr>
          <a:xfrm>
            <a:off x="868680" y="5623560"/>
            <a:ext cx="10515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Geen automatische straffen: de club stelt de regels in (afmeldtermijnen, kaarten, wisselen) en trainers beslissen.</a:t>
            </a:r>
            <a:endParaRPr lang="en-US" sz="1400" dirty="0"/>
          </a:p>
        </p:txBody>
      </p:sp>
      <p:sp>
        <p:nvSpPr>
          <p:cNvPr id="19" name="Text 14"/>
          <p:cNvSpPr txBox="1"/>
          <p:nvPr/>
        </p:nvSpPr>
        <p:spPr>
          <a:xfrm>
            <a:off x="640080" y="644652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ClubComm · voorstel aan het bestuur van RKSV DCG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502920"/>
            <a:ext cx="10881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0D88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ZO ZIET HET ERUIT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22960"/>
            <a:ext cx="10881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34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Voor elke rol een eigen scherm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691640"/>
            <a:ext cx="2194560" cy="4343400"/>
          </a:xfrm>
          <a:prstGeom prst="roundRect">
            <a:avLst>
              <a:gd name="adj" fmla="val 11667"/>
            </a:avLst>
          </a:prstGeom>
          <a:solidFill>
            <a:srgbClr val="0B2545"/>
          </a:solidFill>
          <a:ln/>
        </p:spPr>
      </p:sp>
      <p:pic>
        <p:nvPicPr>
          <p:cNvPr id="5" name="Image 0" descr="/home/user/Clubcomm/docs/presentaties/beelden/ou-home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1783080"/>
            <a:ext cx="2011680" cy="402336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2971800" y="3291840"/>
            <a:ext cx="1371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Ouder</a:t>
            </a:r>
            <a:endParaRPr lang="en-US" sz="1800" dirty="0"/>
          </a:p>
          <a:p>
            <a:pPr indent="0" marL="0">
              <a:buNone/>
            </a:pPr>
            <a:r>
              <a:rPr lang="en-US" sz="14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Afmelden, vervoer, taken</a:t>
            </a:r>
            <a:endParaRPr lang="en-US" sz="1800" dirty="0"/>
          </a:p>
        </p:txBody>
      </p:sp>
      <p:sp>
        <p:nvSpPr>
          <p:cNvPr id="7" name="Shape 4"/>
          <p:cNvSpPr/>
          <p:nvPr/>
        </p:nvSpPr>
        <p:spPr>
          <a:xfrm>
            <a:off x="4434840" y="1691640"/>
            <a:ext cx="2194560" cy="4343400"/>
          </a:xfrm>
          <a:prstGeom prst="roundRect">
            <a:avLst>
              <a:gd name="adj" fmla="val 11667"/>
            </a:avLst>
          </a:prstGeom>
          <a:solidFill>
            <a:srgbClr val="0B2545"/>
          </a:solidFill>
          <a:ln/>
        </p:spPr>
      </p:sp>
      <p:pic>
        <p:nvPicPr>
          <p:cNvPr id="8" name="Image 1" descr="/home/user/Clubcomm/docs/presentaties/beelden/tr-aanwezigheid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26280" y="1783080"/>
            <a:ext cx="2011680" cy="4023360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6766560" y="3291840"/>
            <a:ext cx="1371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Trainer</a:t>
            </a:r>
            <a:endParaRPr lang="en-US" sz="1800" dirty="0"/>
          </a:p>
          <a:p>
            <a:pPr indent="0" marL="0">
              <a:buNone/>
            </a:pPr>
            <a:r>
              <a:rPr lang="en-US" sz="14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Aanwezigheid op het veld</a:t>
            </a:r>
            <a:endParaRPr lang="en-US" sz="1800" dirty="0"/>
          </a:p>
        </p:txBody>
      </p:sp>
      <p:sp>
        <p:nvSpPr>
          <p:cNvPr id="10" name="Shape 6"/>
          <p:cNvSpPr/>
          <p:nvPr/>
        </p:nvSpPr>
        <p:spPr>
          <a:xfrm>
            <a:off x="8229600" y="1691640"/>
            <a:ext cx="2194560" cy="4343400"/>
          </a:xfrm>
          <a:prstGeom prst="roundRect">
            <a:avLst>
              <a:gd name="adj" fmla="val 11667"/>
            </a:avLst>
          </a:prstGeom>
          <a:solidFill>
            <a:srgbClr val="0B2545"/>
          </a:solidFill>
          <a:ln/>
        </p:spPr>
      </p:sp>
      <p:pic>
        <p:nvPicPr>
          <p:cNvPr id="11" name="Image 2" descr="/home/user/Clubcomm/docs/presentaties/beelden/tl-wedstrijd.jp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21040" y="1783080"/>
            <a:ext cx="2011680" cy="4023360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10561320" y="3291840"/>
            <a:ext cx="1371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Teamleider</a:t>
            </a:r>
            <a:endParaRPr lang="en-US" sz="1800" dirty="0"/>
          </a:p>
          <a:p>
            <a:pPr indent="0" marL="0">
              <a:buNone/>
            </a:pPr>
            <a:r>
              <a:rPr lang="en-US" sz="14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wedstrijd regelen</a:t>
            </a:r>
            <a:endParaRPr lang="en-US" sz="1800" dirty="0"/>
          </a:p>
        </p:txBody>
      </p:sp>
      <p:sp>
        <p:nvSpPr>
          <p:cNvPr id="13" name="Text 8"/>
          <p:cNvSpPr txBox="1"/>
          <p:nvPr/>
        </p:nvSpPr>
        <p:spPr>
          <a:xfrm>
            <a:off x="640080" y="644652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ClubComm · voorstel aan het bestuur van RKSV DCG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502920"/>
            <a:ext cx="10881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0D88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HET VOORSTEL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22960"/>
            <a:ext cx="10881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34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Klein beginnen: één team, acht weken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783080"/>
            <a:ext cx="2560320" cy="2011680"/>
          </a:xfrm>
          <a:prstGeom prst="roundRect">
            <a:avLst>
              <a:gd name="adj" fmla="val 5455"/>
            </a:avLst>
          </a:prstGeom>
          <a:solidFill>
            <a:srgbClr val="EAF4FE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640080" y="1874520"/>
            <a:ext cx="25603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0D88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60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2880360"/>
            <a:ext cx="2560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</a:t>
            </a:r>
            <a:endParaRPr lang="en-US" sz="16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O12 talententeam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3429000" y="1783080"/>
            <a:ext cx="2560320" cy="2011680"/>
          </a:xfrm>
          <a:prstGeom prst="roundRect">
            <a:avLst>
              <a:gd name="adj" fmla="val 5455"/>
            </a:avLst>
          </a:prstGeom>
          <a:solidFill>
            <a:srgbClr val="EAF4FE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3429000" y="1874520"/>
            <a:ext cx="25603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0D88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</a:t>
            </a:r>
            <a:endParaRPr lang="en-US" sz="6000" dirty="0"/>
          </a:p>
        </p:txBody>
      </p:sp>
      <p:sp>
        <p:nvSpPr>
          <p:cNvPr id="9" name="Text 7"/>
          <p:cNvSpPr txBox="1"/>
          <p:nvPr/>
        </p:nvSpPr>
        <p:spPr>
          <a:xfrm>
            <a:off x="3429000" y="2880360"/>
            <a:ext cx="2560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spelers</a:t>
            </a:r>
            <a:endParaRPr lang="en-US" sz="16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 hun ouders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6217920" y="1783080"/>
            <a:ext cx="2560320" cy="2011680"/>
          </a:xfrm>
          <a:prstGeom prst="roundRect">
            <a:avLst>
              <a:gd name="adj" fmla="val 5455"/>
            </a:avLst>
          </a:prstGeom>
          <a:solidFill>
            <a:srgbClr val="EAF4FE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6217920" y="1874520"/>
            <a:ext cx="25603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0D88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6000" dirty="0"/>
          </a:p>
        </p:txBody>
      </p:sp>
      <p:sp>
        <p:nvSpPr>
          <p:cNvPr id="12" name="Text 10"/>
          <p:cNvSpPr txBox="1"/>
          <p:nvPr/>
        </p:nvSpPr>
        <p:spPr>
          <a:xfrm>
            <a:off x="6217920" y="2880360"/>
            <a:ext cx="2560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weken</a:t>
            </a:r>
            <a:endParaRPr lang="en-US" sz="16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oktober en november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9006840" y="1783080"/>
            <a:ext cx="2560320" cy="2011680"/>
          </a:xfrm>
          <a:prstGeom prst="roundRect">
            <a:avLst>
              <a:gd name="adj" fmla="val 5455"/>
            </a:avLst>
          </a:prstGeom>
          <a:solidFill>
            <a:srgbClr val="EAF4FE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9006840" y="1874520"/>
            <a:ext cx="25603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0D88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6000" dirty="0"/>
          </a:p>
        </p:txBody>
      </p:sp>
      <p:sp>
        <p:nvSpPr>
          <p:cNvPr id="15" name="Text 13"/>
          <p:cNvSpPr txBox="1"/>
          <p:nvPr/>
        </p:nvSpPr>
        <p:spPr>
          <a:xfrm>
            <a:off x="9006840" y="2880360"/>
            <a:ext cx="2560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aanspreekpunt</a:t>
            </a:r>
            <a:endParaRPr lang="en-US" sz="16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trainer en initiatiefnemer</a:t>
            </a:r>
            <a:endParaRPr lang="en-US" sz="1600" dirty="0"/>
          </a:p>
        </p:txBody>
      </p:sp>
      <p:sp>
        <p:nvSpPr>
          <p:cNvPr id="16" name="Text 14"/>
          <p:cNvSpPr txBox="1"/>
          <p:nvPr/>
        </p:nvSpPr>
        <p:spPr>
          <a:xfrm>
            <a:off x="640080" y="4114800"/>
            <a:ext cx="1088136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15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Start: </a:t>
            </a:r>
            <a:pPr indent="0" marL="0">
              <a:spcAft>
                <a:spcPts val="800"/>
              </a:spcAft>
              <a:buNone/>
            </a:pPr>
            <a:r>
              <a:rPr lang="en-US" sz="15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begin oktober. Ouders melden zich aan via een link of QR-code; per rol is er een korte handleiding.</a:t>
            </a:r>
            <a:endParaRPr lang="en-US" sz="15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5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Oefenwedstrijden en competitie: </a:t>
            </a:r>
            <a:pPr indent="0" marL="0">
              <a:spcAft>
                <a:spcPts val="800"/>
              </a:spcAft>
              <a:buNone/>
            </a:pPr>
            <a:r>
              <a:rPr lang="en-US" sz="15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wedstrijden vanaf 31 oktober (fase 2), oefenwedstrijden al eerder.</a:t>
            </a:r>
            <a:endParaRPr lang="en-US" sz="15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5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WhatsApp: </a:t>
            </a:r>
            <a:pPr indent="0" marL="0">
              <a:spcAft>
                <a:spcPts val="800"/>
              </a:spcAft>
              <a:buNone/>
            </a:pPr>
            <a:r>
              <a:rPr lang="en-US" sz="15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afmelden gaat alleen nog via ClubComm; de teamgroep blijft voor de gezelligheid.</a:t>
            </a:r>
            <a:endParaRPr lang="en-US" sz="15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5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Evaluatie: </a:t>
            </a:r>
            <a:pPr indent="0" marL="0">
              <a:spcAft>
                <a:spcPts val="800"/>
              </a:spcAft>
              <a:buNone/>
            </a:pPr>
            <a:r>
              <a:rPr lang="en-US" sz="15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eind november, met ouders, teamleiders en trainer. Daarna besluit het bestuur over meer teams.</a:t>
            </a:r>
            <a:endParaRPr lang="en-US" sz="1500" dirty="0"/>
          </a:p>
        </p:txBody>
      </p:sp>
      <p:sp>
        <p:nvSpPr>
          <p:cNvPr id="17" name="Text 15"/>
          <p:cNvSpPr txBox="1"/>
          <p:nvPr/>
        </p:nvSpPr>
        <p:spPr>
          <a:xfrm>
            <a:off x="640080" y="644652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ClubComm · voorstel aan het bestuur van RKSV DCG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502920"/>
            <a:ext cx="10881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0D88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PRIVACY EN VEILIGHEID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22960"/>
            <a:ext cx="10881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34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Gegevens van kinderen: zorgvuldig en in Europa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783080"/>
            <a:ext cx="5303520" cy="4434840"/>
          </a:xfrm>
          <a:prstGeom prst="roundRect">
            <a:avLst>
              <a:gd name="adj" fmla="val 2474"/>
            </a:avLst>
          </a:prstGeom>
          <a:solidFill>
            <a:srgbClr val="F5F7FA"/>
          </a:solidFill>
          <a:ln/>
        </p:spPr>
      </p:sp>
      <p:sp>
        <p:nvSpPr>
          <p:cNvPr id="5" name="Shape 3"/>
          <p:cNvSpPr/>
          <p:nvPr/>
        </p:nvSpPr>
        <p:spPr>
          <a:xfrm>
            <a:off x="914400" y="2011680"/>
            <a:ext cx="548640" cy="548640"/>
          </a:xfrm>
          <a:prstGeom prst="ellipse">
            <a:avLst/>
          </a:prstGeom>
          <a:solidFill>
            <a:srgbClr val="16A34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1560" y="2148840"/>
            <a:ext cx="274320" cy="27432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645920" y="2011680"/>
            <a:ext cx="4114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Geregeld voor de pilot</a:t>
            </a:r>
            <a:endParaRPr lang="en-US" sz="1900" dirty="0"/>
          </a:p>
        </p:txBody>
      </p:sp>
      <p:sp>
        <p:nvSpPr>
          <p:cNvPr id="8" name="Text 5"/>
          <p:cNvSpPr txBox="1"/>
          <p:nvPr/>
        </p:nvSpPr>
        <p:spPr>
          <a:xfrm>
            <a:off x="960120" y="2743200"/>
            <a:ext cx="4754880" cy="3337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Opslag in de EU (Frankfurt); e-mail via een Europese dienst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Wie wat mag zien, controleert de database zelf: ouders alleen hun eigen kind, staf alleen het eigen team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Inloggen zonder wachtwoord, met een code per e-mail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Privacyverklaring in de app; aanmelden alleen met akkoord van de ouder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Geen medische gegevens: bij afmelden alleen een reden, zoals "ziek" of "blessure"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Elke week een back-up; ouders kunnen hun account zelf verwijderen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6217920" y="1783080"/>
            <a:ext cx="5303520" cy="4434840"/>
          </a:xfrm>
          <a:prstGeom prst="roundRect">
            <a:avLst>
              <a:gd name="adj" fmla="val 2474"/>
            </a:avLst>
          </a:prstGeom>
          <a:solidFill>
            <a:srgbClr val="F5F7FA"/>
          </a:solidFill>
          <a:ln/>
        </p:spPr>
      </p:sp>
      <p:sp>
        <p:nvSpPr>
          <p:cNvPr id="10" name="Shape 7"/>
          <p:cNvSpPr/>
          <p:nvPr/>
        </p:nvSpPr>
        <p:spPr>
          <a:xfrm>
            <a:off x="6492240" y="2011680"/>
            <a:ext cx="548640" cy="548640"/>
          </a:xfrm>
          <a:prstGeom prst="ellipse">
            <a:avLst/>
          </a:prstGeom>
          <a:solidFill>
            <a:srgbClr val="D97706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29400" y="2148840"/>
            <a:ext cx="274320" cy="274320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7223760" y="2011680"/>
            <a:ext cx="4114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Vóór uitbreiding naar meer teams</a:t>
            </a:r>
            <a:endParaRPr lang="en-US" sz="1900" dirty="0"/>
          </a:p>
        </p:txBody>
      </p:sp>
      <p:sp>
        <p:nvSpPr>
          <p:cNvPr id="13" name="Text 9"/>
          <p:cNvSpPr txBox="1"/>
          <p:nvPr/>
        </p:nvSpPr>
        <p:spPr>
          <a:xfrm>
            <a:off x="6537960" y="2743200"/>
            <a:ext cx="4754880" cy="3337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Verwerkersovereenkomst tussen de club en ClubComm (en de gebruikte diensten)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Risicoanalyse (DPIA), omdat het om kinderen gaat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Bewaartermijnen: gegevens automatisch opruimen na het seizoen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Dagelijkse back-ups buiten de database</a:t>
            </a:r>
            <a:endParaRPr lang="en-US" sz="1400" dirty="0"/>
          </a:p>
        </p:txBody>
      </p:sp>
      <p:sp>
        <p:nvSpPr>
          <p:cNvPr id="14" name="Text 10"/>
          <p:cNvSpPr txBox="1"/>
          <p:nvPr/>
        </p:nvSpPr>
        <p:spPr>
          <a:xfrm>
            <a:off x="640080" y="644652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ClubComm · voorstel aan het bestuur van RKSV DCG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502920"/>
            <a:ext cx="10881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0D88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KOSTEN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22960"/>
            <a:ext cx="10881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34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Voor de club kost de pilot niets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920240"/>
            <a:ext cx="3453384" cy="1554480"/>
          </a:xfrm>
          <a:prstGeom prst="roundRect">
            <a:avLst>
              <a:gd name="adj" fmla="val 7059"/>
            </a:avLst>
          </a:prstGeom>
          <a:solidFill>
            <a:srgbClr val="F5F7FA"/>
          </a:solidFill>
          <a:ln/>
        </p:spPr>
      </p:sp>
      <p:sp>
        <p:nvSpPr>
          <p:cNvPr id="5" name="Shape 3"/>
          <p:cNvSpPr/>
          <p:nvPr/>
        </p:nvSpPr>
        <p:spPr>
          <a:xfrm>
            <a:off x="868680" y="2148840"/>
            <a:ext cx="566928" cy="566928"/>
          </a:xfrm>
          <a:prstGeom prst="ellipse">
            <a:avLst/>
          </a:prstGeom>
          <a:solidFill>
            <a:srgbClr val="16A34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14984" y="2295144"/>
            <a:ext cx="274320" cy="27432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600200" y="2103120"/>
            <a:ext cx="2310384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€ 0 voor de club</a:t>
            </a:r>
            <a:endParaRPr lang="en-US" sz="1700" dirty="0"/>
          </a:p>
          <a:p>
            <a:pPr indent="0" marL="0">
              <a:buNone/>
            </a:pPr>
            <a:r>
              <a:rPr lang="en-US" sz="15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pilot draait op gratis versies van de gebruikte diensten.</a:t>
            </a:r>
            <a:endParaRPr lang="en-US" sz="1700" dirty="0"/>
          </a:p>
        </p:txBody>
      </p:sp>
      <p:sp>
        <p:nvSpPr>
          <p:cNvPr id="8" name="Shape 5"/>
          <p:cNvSpPr/>
          <p:nvPr/>
        </p:nvSpPr>
        <p:spPr>
          <a:xfrm>
            <a:off x="4367784" y="1920240"/>
            <a:ext cx="3453384" cy="1554480"/>
          </a:xfrm>
          <a:prstGeom prst="roundRect">
            <a:avLst>
              <a:gd name="adj" fmla="val 7059"/>
            </a:avLst>
          </a:prstGeom>
          <a:solidFill>
            <a:srgbClr val="F5F7FA"/>
          </a:solidFill>
          <a:ln/>
        </p:spPr>
      </p:sp>
      <p:sp>
        <p:nvSpPr>
          <p:cNvPr id="9" name="Shape 6"/>
          <p:cNvSpPr/>
          <p:nvPr/>
        </p:nvSpPr>
        <p:spPr>
          <a:xfrm>
            <a:off x="4596384" y="2148840"/>
            <a:ext cx="566928" cy="566928"/>
          </a:xfrm>
          <a:prstGeom prst="ellipse">
            <a:avLst/>
          </a:prstGeom>
          <a:solidFill>
            <a:srgbClr val="0D88F9"/>
          </a:solidFill>
          <a:ln/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42688" y="2295144"/>
            <a:ext cx="274320" cy="274320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5327904" y="2103120"/>
            <a:ext cx="2310384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Eigen webadres</a:t>
            </a:r>
            <a:endParaRPr lang="en-US" sz="1700" dirty="0"/>
          </a:p>
          <a:p>
            <a:pPr indent="0" marL="0">
              <a:buNone/>
            </a:pPr>
            <a:r>
              <a:rPr lang="en-US" sz="15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mijnclubcomm.nl: betaald door de initiatiefnemer (ongeveer € 10 per jaar).</a:t>
            </a:r>
            <a:endParaRPr lang="en-US" sz="1700" dirty="0"/>
          </a:p>
        </p:txBody>
      </p:sp>
      <p:sp>
        <p:nvSpPr>
          <p:cNvPr id="12" name="Shape 8"/>
          <p:cNvSpPr/>
          <p:nvPr/>
        </p:nvSpPr>
        <p:spPr>
          <a:xfrm>
            <a:off x="8095488" y="1920240"/>
            <a:ext cx="3453384" cy="1554480"/>
          </a:xfrm>
          <a:prstGeom prst="roundRect">
            <a:avLst>
              <a:gd name="adj" fmla="val 7059"/>
            </a:avLst>
          </a:prstGeom>
          <a:solidFill>
            <a:srgbClr val="F5F7FA"/>
          </a:solidFill>
          <a:ln/>
        </p:spPr>
      </p:sp>
      <p:sp>
        <p:nvSpPr>
          <p:cNvPr id="13" name="Shape 9"/>
          <p:cNvSpPr/>
          <p:nvPr/>
        </p:nvSpPr>
        <p:spPr>
          <a:xfrm>
            <a:off x="8324088" y="2148840"/>
            <a:ext cx="566928" cy="566928"/>
          </a:xfrm>
          <a:prstGeom prst="ellipse">
            <a:avLst/>
          </a:prstGeom>
          <a:solidFill>
            <a:srgbClr val="0D88F9"/>
          </a:solidFill>
          <a:ln/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70392" y="2295144"/>
            <a:ext cx="274320" cy="274320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9055608" y="2103120"/>
            <a:ext cx="2310384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Extra zekerheid</a:t>
            </a:r>
            <a:endParaRPr lang="en-US" sz="1700" dirty="0"/>
          </a:p>
          <a:p>
            <a:pPr indent="0" marL="0">
              <a:buNone/>
            </a:pPr>
            <a:r>
              <a:rPr lang="en-US" sz="15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Eventueel dagelijkse back-ups (ongeveer $ 25 per maand), ook door de initiatiefnemer.</a:t>
            </a:r>
            <a:endParaRPr lang="en-US" sz="1700" dirty="0"/>
          </a:p>
        </p:txBody>
      </p:sp>
      <p:sp>
        <p:nvSpPr>
          <p:cNvPr id="16" name="Shape 11"/>
          <p:cNvSpPr/>
          <p:nvPr/>
        </p:nvSpPr>
        <p:spPr>
          <a:xfrm>
            <a:off x="640080" y="5623560"/>
            <a:ext cx="10908792" cy="685800"/>
          </a:xfrm>
          <a:prstGeom prst="roundRect">
            <a:avLst>
              <a:gd name="adj" fmla="val 16000"/>
            </a:avLst>
          </a:prstGeom>
          <a:solidFill>
            <a:srgbClr val="EAF4FE"/>
          </a:solidFill>
          <a:ln/>
        </p:spPr>
      </p:sp>
      <p:sp>
        <p:nvSpPr>
          <p:cNvPr id="17" name="Text 12"/>
          <p:cNvSpPr txBox="1"/>
          <p:nvPr/>
        </p:nvSpPr>
        <p:spPr>
          <a:xfrm>
            <a:off x="868680" y="5623560"/>
            <a:ext cx="10515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Bij uitbreiding naar meer teams of clubs bespreken we een vaste prijs per club per jaar.</a:t>
            </a:r>
            <a:endParaRPr lang="en-US" sz="1400" dirty="0"/>
          </a:p>
        </p:txBody>
      </p:sp>
      <p:sp>
        <p:nvSpPr>
          <p:cNvPr id="18" name="Text 13"/>
          <p:cNvSpPr txBox="1"/>
          <p:nvPr/>
        </p:nvSpPr>
        <p:spPr>
          <a:xfrm>
            <a:off x="640080" y="644652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ClubComm · voorstel aan het bestuur van RKSV DCG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502920"/>
            <a:ext cx="10881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0D88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EVALUATIE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22960"/>
            <a:ext cx="10881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34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Wanneer is de pilot geslaagd?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691640"/>
            <a:ext cx="10881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Voorstel, samen vast te stellen voor de start.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2560320"/>
            <a:ext cx="25603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0D88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90%</a:t>
            </a:r>
            <a:endParaRPr lang="en-US" sz="54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3474720"/>
            <a:ext cx="24688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 de spelers heeft een ouder in de app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3429000" y="2560320"/>
            <a:ext cx="25603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0D88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80%</a:t>
            </a:r>
            <a:endParaRPr lang="en-US" sz="5400" dirty="0"/>
          </a:p>
        </p:txBody>
      </p:sp>
      <p:sp>
        <p:nvSpPr>
          <p:cNvPr id="8" name="Text 6"/>
          <p:cNvSpPr txBox="1"/>
          <p:nvPr/>
        </p:nvSpPr>
        <p:spPr>
          <a:xfrm>
            <a:off x="3429000" y="3474720"/>
            <a:ext cx="24688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 de afmeldingen gaat via ClubComm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6217920" y="2560320"/>
            <a:ext cx="25603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0D88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90%</a:t>
            </a:r>
            <a:endParaRPr lang="en-US" sz="5400" dirty="0"/>
          </a:p>
        </p:txBody>
      </p:sp>
      <p:sp>
        <p:nvSpPr>
          <p:cNvPr id="10" name="Text 8"/>
          <p:cNvSpPr txBox="1"/>
          <p:nvPr/>
        </p:nvSpPr>
        <p:spPr>
          <a:xfrm>
            <a:off x="6217920" y="3474720"/>
            <a:ext cx="24688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 de trainingen heeft de aanwezigheid ingevuld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9006840" y="2560320"/>
            <a:ext cx="25603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0D88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75%</a:t>
            </a:r>
            <a:endParaRPr lang="en-US" sz="5400" dirty="0"/>
          </a:p>
        </p:txBody>
      </p:sp>
      <p:sp>
        <p:nvSpPr>
          <p:cNvPr id="12" name="Text 10"/>
          <p:cNvSpPr txBox="1"/>
          <p:nvPr/>
        </p:nvSpPr>
        <p:spPr>
          <a:xfrm>
            <a:off x="9006840" y="3474720"/>
            <a:ext cx="24688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 de berichten is binnen 24 uur gelezen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640080" y="4572000"/>
            <a:ext cx="10908792" cy="1463040"/>
          </a:xfrm>
          <a:prstGeom prst="roundRect">
            <a:avLst>
              <a:gd name="adj" fmla="val 7500"/>
            </a:avLst>
          </a:prstGeom>
          <a:solidFill>
            <a:srgbClr val="EAF4FE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914400" y="4663440"/>
            <a:ext cx="10424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minstens zo belangrijk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Minder "niet afgemeld en niet gekomen" · minder open taken op wedstrijddagen · trainer en teamleiders zeggen: het scheelt me tijd.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640080" y="644652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ClubComm · voorstel aan het bestuur van RKSV DCG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502920"/>
            <a:ext cx="10881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0D88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BESLUIT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22960"/>
            <a:ext cx="10881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34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Wat vragen we van het bestuur?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783080"/>
            <a:ext cx="457200" cy="457200"/>
          </a:xfrm>
          <a:prstGeom prst="ellipse">
            <a:avLst/>
          </a:prstGeom>
          <a:solidFill>
            <a:srgbClr val="0D88F9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640080" y="17830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325880" y="1783080"/>
            <a:ext cx="9875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Toestemming voor de pilot met het O12 talententeam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640080" y="2468880"/>
            <a:ext cx="457200" cy="457200"/>
          </a:xfrm>
          <a:prstGeom prst="ellipse">
            <a:avLst/>
          </a:prstGeom>
          <a:solidFill>
            <a:srgbClr val="0D88F9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40080" y="24688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1325880" y="2468880"/>
            <a:ext cx="9875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Een contactpersoon voor privacyvragen van ouders</a:t>
            </a:r>
            <a:endParaRPr lang="en-US" sz="1700" dirty="0"/>
          </a:p>
        </p:txBody>
      </p:sp>
      <p:sp>
        <p:nvSpPr>
          <p:cNvPr id="10" name="Shape 8"/>
          <p:cNvSpPr/>
          <p:nvPr/>
        </p:nvSpPr>
        <p:spPr>
          <a:xfrm>
            <a:off x="640080" y="3154680"/>
            <a:ext cx="457200" cy="457200"/>
          </a:xfrm>
          <a:prstGeom prst="ellipse">
            <a:avLst/>
          </a:prstGeom>
          <a:solidFill>
            <a:srgbClr val="0D88F9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640080" y="31546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1325880" y="3154680"/>
            <a:ext cx="9875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Akkoord dat de club verantwoordelijk is voor de gegevens en ClubComm ze verwerkt</a:t>
            </a:r>
            <a:endParaRPr lang="en-US" sz="1700" dirty="0"/>
          </a:p>
        </p:txBody>
      </p:sp>
      <p:sp>
        <p:nvSpPr>
          <p:cNvPr id="13" name="Shape 11"/>
          <p:cNvSpPr/>
          <p:nvPr/>
        </p:nvSpPr>
        <p:spPr>
          <a:xfrm>
            <a:off x="640080" y="3840480"/>
            <a:ext cx="457200" cy="457200"/>
          </a:xfrm>
          <a:prstGeom prst="ellipse">
            <a:avLst/>
          </a:prstGeom>
          <a:solidFill>
            <a:srgbClr val="0D88F9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640080" y="38404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1325880" y="3840480"/>
            <a:ext cx="9875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Een evaluatiemoment eind november</a:t>
            </a:r>
            <a:endParaRPr lang="en-US" sz="1700" dirty="0"/>
          </a:p>
        </p:txBody>
      </p:sp>
      <p:sp>
        <p:nvSpPr>
          <p:cNvPr id="16" name="Shape 14"/>
          <p:cNvSpPr/>
          <p:nvPr/>
        </p:nvSpPr>
        <p:spPr>
          <a:xfrm>
            <a:off x="914400" y="4983480"/>
            <a:ext cx="8887968" cy="0"/>
          </a:xfrm>
          <a:prstGeom prst="line">
            <a:avLst/>
          </a:prstGeom>
          <a:noFill/>
          <a:ln w="38100">
            <a:solidFill>
              <a:srgbClr val="CADCFC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777240" y="4846320"/>
            <a:ext cx="274320" cy="274320"/>
          </a:xfrm>
          <a:prstGeom prst="ellipse">
            <a:avLst/>
          </a:prstGeom>
          <a:solidFill>
            <a:srgbClr val="D97706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640080" y="5257800"/>
            <a:ext cx="2057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toestemming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2999232" y="4846320"/>
            <a:ext cx="274320" cy="274320"/>
          </a:xfrm>
          <a:prstGeom prst="ellipse">
            <a:avLst/>
          </a:prstGeom>
          <a:solidFill>
            <a:srgbClr val="0D88F9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2862072" y="5257800"/>
            <a:ext cx="2057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Begin oktober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start pilot</a:t>
            </a:r>
            <a:endParaRPr lang="en-US" sz="1400" dirty="0"/>
          </a:p>
        </p:txBody>
      </p:sp>
      <p:sp>
        <p:nvSpPr>
          <p:cNvPr id="21" name="Shape 19"/>
          <p:cNvSpPr/>
          <p:nvPr/>
        </p:nvSpPr>
        <p:spPr>
          <a:xfrm>
            <a:off x="5221224" y="4846320"/>
            <a:ext cx="274320" cy="274320"/>
          </a:xfrm>
          <a:prstGeom prst="ellipse">
            <a:avLst/>
          </a:prstGeom>
          <a:solidFill>
            <a:srgbClr val="0D88F9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5084064" y="5257800"/>
            <a:ext cx="2057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31 oktober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competitie (fase 2)</a:t>
            </a:r>
            <a:endParaRPr lang="en-US" sz="1400" dirty="0"/>
          </a:p>
        </p:txBody>
      </p:sp>
      <p:sp>
        <p:nvSpPr>
          <p:cNvPr id="23" name="Shape 21"/>
          <p:cNvSpPr/>
          <p:nvPr/>
        </p:nvSpPr>
        <p:spPr>
          <a:xfrm>
            <a:off x="7443216" y="4846320"/>
            <a:ext cx="274320" cy="274320"/>
          </a:xfrm>
          <a:prstGeom prst="ellipse">
            <a:avLst/>
          </a:prstGeom>
          <a:solidFill>
            <a:srgbClr val="0D88F9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7306056" y="5257800"/>
            <a:ext cx="2057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Eind november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evaluatie</a:t>
            </a:r>
            <a:endParaRPr lang="en-US" sz="1400" dirty="0"/>
          </a:p>
        </p:txBody>
      </p:sp>
      <p:sp>
        <p:nvSpPr>
          <p:cNvPr id="25" name="Shape 23"/>
          <p:cNvSpPr/>
          <p:nvPr/>
        </p:nvSpPr>
        <p:spPr>
          <a:xfrm>
            <a:off x="9665208" y="4846320"/>
            <a:ext cx="274320" cy="274320"/>
          </a:xfrm>
          <a:prstGeom prst="ellipse">
            <a:avLst/>
          </a:prstGeom>
          <a:solidFill>
            <a:srgbClr val="0D88F9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9528048" y="5257800"/>
            <a:ext cx="2057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Daarna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besluit over meer teams</a:t>
            </a:r>
            <a:endParaRPr lang="en-US" sz="1400" dirty="0"/>
          </a:p>
        </p:txBody>
      </p:sp>
      <p:sp>
        <p:nvSpPr>
          <p:cNvPr id="27" name="Text 25"/>
          <p:cNvSpPr txBox="1"/>
          <p:nvPr/>
        </p:nvSpPr>
        <p:spPr>
          <a:xfrm>
            <a:off x="640080" y="644652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ClubComm · voorstel aan het bestuur van RKSV DCG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B254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Clubcomm/public/assets/clubcomm-ic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731520"/>
            <a:ext cx="822960" cy="82296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731520" y="192024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Vragen? Probeer het zelf</a:t>
            </a:r>
            <a:endParaRPr lang="en-US" sz="4000" dirty="0"/>
          </a:p>
        </p:txBody>
      </p:sp>
      <p:sp>
        <p:nvSpPr>
          <p:cNvPr id="4" name="Shape 1"/>
          <p:cNvSpPr/>
          <p:nvPr/>
        </p:nvSpPr>
        <p:spPr>
          <a:xfrm>
            <a:off x="731520" y="3108960"/>
            <a:ext cx="548640" cy="548640"/>
          </a:xfrm>
          <a:prstGeom prst="ellipse">
            <a:avLst/>
          </a:prstGeom>
          <a:solidFill>
            <a:srgbClr val="0D88F9"/>
          </a:solidFill>
          <a:ln/>
        </p:spPr>
      </p:sp>
      <p:pic>
        <p:nvPicPr>
          <p:cNvPr id="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8680" y="3246120"/>
            <a:ext cx="274320" cy="274320"/>
          </a:xfrm>
          <a:prstGeom prst="rect">
            <a:avLst/>
          </a:prstGeom>
        </p:spPr>
      </p:pic>
      <p:sp>
        <p:nvSpPr>
          <p:cNvPr id="6" name="Text 2"/>
          <p:cNvSpPr txBox="1"/>
          <p:nvPr/>
        </p:nvSpPr>
        <p:spPr>
          <a:xfrm>
            <a:off x="1508760" y="3108960"/>
            <a:ext cx="9601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 met voorbeelddata: mijnclubcomm.nl/?demo</a:t>
            </a:r>
            <a:endParaRPr lang="en-US" sz="1800" dirty="0"/>
          </a:p>
        </p:txBody>
      </p:sp>
      <p:sp>
        <p:nvSpPr>
          <p:cNvPr id="7" name="Shape 3"/>
          <p:cNvSpPr/>
          <p:nvPr/>
        </p:nvSpPr>
        <p:spPr>
          <a:xfrm>
            <a:off x="731520" y="3886200"/>
            <a:ext cx="548640" cy="548640"/>
          </a:xfrm>
          <a:prstGeom prst="ellipse">
            <a:avLst/>
          </a:prstGeom>
          <a:solidFill>
            <a:srgbClr val="0D88F9"/>
          </a:solidFill>
          <a:ln/>
        </p:spPr>
      </p:sp>
      <p:pic>
        <p:nvPicPr>
          <p:cNvPr id="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8680" y="4023360"/>
            <a:ext cx="274320" cy="274320"/>
          </a:xfrm>
          <a:prstGeom prst="rect">
            <a:avLst/>
          </a:prstGeom>
        </p:spPr>
      </p:pic>
      <p:sp>
        <p:nvSpPr>
          <p:cNvPr id="9" name="Text 4"/>
          <p:cNvSpPr txBox="1"/>
          <p:nvPr/>
        </p:nvSpPr>
        <p:spPr>
          <a:xfrm>
            <a:off x="1508760" y="3886200"/>
            <a:ext cx="9601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 in als ouder, trainer, teamleider of HJO. Er staan geen echte gegevens in.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ClubComm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ClubComm — pilot bij RKSV DCG</dc:title>
  <dc:subject>PptxGenJS Presentation</dc:subject>
  <dc:creator>PptxGenJS</dc:creator>
  <cp:lastModifiedBy>PptxGenJS</cp:lastModifiedBy>
  <cp:revision>1</cp:revision>
  <dcterms:created xsi:type="dcterms:W3CDTF">2026-09-26T16:40:47Z</dcterms:created>
  <dcterms:modified xsi:type="dcterms:W3CDTF">2026-09-26T16:40:47Z</dcterms:modified>
</cp:coreProperties>
</file>